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38f0276-ee3c-6043-babd-3edaa67fe15d}">
          <p14:sldIdLst>
            <p14:sldId id="256"/>
            <p14:sldId id="257"/>
            <p14:sldId id="258"/>
          </p14:sldIdLst>
        </p14:section>
        <p14:section name="Method" id="{1c71f839-36b5-8b10-2c2a-192894768ba0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nalysis" id="{a88875bc-5473-0901-cfa4-9d6384b0dec9}">
          <p14:sldIdLst>
            <p14:sldId id="266"/>
            <p14:sldId id="267"/>
            <p14:sldId id="268"/>
          </p14:sldIdLst>
        </p14:section>
        <p14:section name="Wrap-up" id="{7b94ce5d-8b18-7e53-bc42-37135dbc9fa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how the rolling hash idea from Rabin–Karp is used to detect copied text and code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the problem: integrity, code originality, and the scale of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N(N-1)/2 pairs for N = 1,000,000 is about 5 x 10^11. This is why documents are reduced to fingerprints.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recap only; the audience knows Rabin-Karp. Stress that every k-gram hash costs O(1) after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shaded box is where Rabin-Karp's rolling hash is used. The other steps make it work on whole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Normalization makes the comparison insensitive to formatting, case, and (for code) identifier renaming.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rolling update equals direct hashing. A whole document of n characters yields n-k+1 hashes in O(n).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Winnowing (Schleimer, Wilkerson, Aiken, 2003) is what MOSS builds on. Guarantee threshold t = w + k - 1.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two or three windows by hand: pick the minimum, rightmost on ties, record its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Toy example with two very short documents. Real systems index millions of fingerprints and rank documents by shared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Turnitin's algorithm is proprietary, so only say that it is in the same family of fingerprinting ideas, without claiming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analysis unit: best/average O(n + m) for Rabin-Karp, worst case O(nm) only under heavy collisions.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tools add semantic and stylometric methods on top of fingerprinting to handle paraphrasing.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three takeaways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DD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920240"/>
            <a:ext cx="10360152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4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Rabin–Karp Algorithm in Plagiarism Detection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anel"/>
          <p:cNvSpPr/>
          <p:nvPr/>
        </p:nvSpPr>
        <p:spPr>
          <a:xfrm>
            <a:off x="822960" y="1737360"/>
            <a:ext cx="10543032" cy="2560320"/>
          </a:xfrm>
          <a:prstGeom prst="roundRect">
            <a:avLst>
              <a:gd name="adj" fmla="val 2857"/>
            </a:avLst>
          </a:prstGeom>
          <a:solidFill>
            <a:srgbClr val="F4FAFD"/>
          </a:solidFill>
          <a:ln/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192024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chemeClr val="tx1"/>
                </a:solidFill>
              </a:rPr>
              <a:t>Case Study: Use of the Rabin–Karp Algorithm in Plagiarism Detection</a:t>
            </a:r>
            <a:endParaRPr lang="en-US" sz="4200" dirty="0"/>
          </a:p>
        </p:txBody>
      </p:sp>
      <p:sp>
        <p:nvSpPr>
          <p:cNvPr id="4" name="Student details"/>
          <p:cNvSpPr txBox="1"/>
          <p:nvPr/>
        </p:nvSpPr>
        <p:spPr>
          <a:xfrm>
            <a:off x="640080" y="5212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Name: Rohit Sharma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Roll No: 7445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Class: BE Computer B</a:t>
            </a:r>
            <a:endParaRPr lang="en-US" sz="1600" dirty="0"/>
          </a:p>
        </p:txBody>
      </p:sp>
      <p:sp>
        <p:nvSpPr>
          <p:cNvPr id="5" name="Faculty"/>
          <p:cNvSpPr txBox="1"/>
          <p:nvPr/>
        </p:nvSpPr>
        <p:spPr>
          <a:xfrm>
            <a:off x="6519672" y="5212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Presented to: Prof. Rushali Katkar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Plagiarism Detection Matters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640080" y="16459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DCEE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Academic integrity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603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Essays and reports are copied, lightly edited and resubmitted. Institutions need a fair and consistent way to flag them.</a:t>
            </a:r>
            <a:endParaRPr lang="en-US" sz="1600" dirty="0"/>
          </a:p>
        </p:txBody>
      </p:sp>
      <p:sp>
        <p:nvSpPr>
          <p:cNvPr id="6" name="Card 2"/>
          <p:cNvSpPr/>
          <p:nvPr/>
        </p:nvSpPr>
        <p:spPr>
          <a:xfrm>
            <a:off x="4379976" y="16459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DDF1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54296" y="1920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Code originality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54296" y="25603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Programs are copied with renamed variables or reordered statements, which is hard to spot by reading.</a:t>
            </a:r>
            <a:endParaRPr lang="en-US" sz="1600" dirty="0"/>
          </a:p>
        </p:txBody>
      </p:sp>
      <p:sp>
        <p:nvSpPr>
          <p:cNvPr id="9" name="Card 3"/>
          <p:cNvSpPr/>
          <p:nvPr/>
        </p:nvSpPr>
        <p:spPr>
          <a:xfrm>
            <a:off x="8119872" y="16459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E7E5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94192" y="1920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Scale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56032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new submission must be checked against a growing archive of earlier work and web sources.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Manual checking is impractical, so detection must be automatic, fast and tolerant of small edits.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Naive Matching Does Not Scale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315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06040"/>
                <a:gridCol w="2606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Naive matching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Hash-based (Rabin–Karp)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What is compared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Characters of every window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One number per window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Cost per window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Up to O(m) character checks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O(1) hash update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Over a text of n characters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O(nm) in the worst case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O(n) expected for hashing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Stored per document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The full text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A compact set of numbers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ale callout"/>
          <p:cNvSpPr/>
          <p:nvPr/>
        </p:nvSpPr>
        <p:spPr>
          <a:xfrm>
            <a:off x="8321040" y="1645920"/>
            <a:ext cx="3227832" cy="2880360"/>
          </a:xfrm>
          <a:prstGeom prst="roundRect">
            <a:avLst>
              <a:gd name="adj" fmla="val 2540"/>
            </a:avLst>
          </a:prstGeom>
          <a:solidFill>
            <a:srgbClr val="DCEEF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595360" y="196596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10</a:t>
            </a:r>
            <a:pPr indent="0" marL="0">
              <a:buNone/>
            </a:pPr>
            <a:r>
              <a:rPr lang="en-US" sz="3600" b="1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2926080"/>
            <a:ext cx="2679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document pairs to compare directly when there are 1,000,000 documents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93776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Comparing full texts pairwise cannot work at this scale. Fingerprints reduce each document to a small set of numbers that can be looked up in an index.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Recap: The Rabin–Karp Rolling Hash</a:t>
            </a:r>
            <a:endParaRPr lang="en-US" sz="3200" dirty="0"/>
          </a:p>
        </p:txBody>
      </p:sp>
      <p:sp>
        <p:nvSpPr>
          <p:cNvPr id="3" name="Formula card"/>
          <p:cNvSpPr/>
          <p:nvPr/>
        </p:nvSpPr>
        <p:spPr>
          <a:xfrm>
            <a:off x="640080" y="1645920"/>
            <a:ext cx="6400800" cy="3383280"/>
          </a:xfrm>
          <a:prstGeom prst="roundRect">
            <a:avLst>
              <a:gd name="adj" fmla="val 2162"/>
            </a:avLst>
          </a:prstGeom>
          <a:solidFill>
            <a:srgbClr val="DDF1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Rolling hash update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60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H(next) = ( d × ( H − t[i] × d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m−1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+ t[i+m] ) mod q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832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H: hash of the current window     d: base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m: window length     q: a large prime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t[i]: character leaving the window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t[i+m]: character entering the window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Cost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468880"/>
            <a:ext cx="40507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Update: O(1) per slide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Expected time: O(n + 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Worst case: O(nm), when collisions are frequent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Equal hashes are verified character by character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Plagiarism tools reuse exactly this idea: every substring of a fixed length can be hashed in constant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Pattern Search to Document Fingerprinting</a:t>
            </a:r>
            <a:endParaRPr lang="en-US" sz="3200" dirty="0"/>
          </a:p>
        </p:txBody>
      </p:sp>
      <p:sp>
        <p:nvSpPr>
          <p:cNvPr id="3" name="Pipeline step 1"/>
          <p:cNvSpPr/>
          <p:nvPr/>
        </p:nvSpPr>
        <p:spPr>
          <a:xfrm>
            <a:off x="640080" y="173736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DCEE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Input documents</a:t>
            </a:r>
            <a:endParaRPr lang="en-US" sz="1600" dirty="0"/>
          </a:p>
        </p:txBody>
      </p:sp>
      <p:sp>
        <p:nvSpPr>
          <p:cNvPr id="5" name="Arrow 1"/>
          <p:cNvSpPr/>
          <p:nvPr/>
        </p:nvSpPr>
        <p:spPr>
          <a:xfrm>
            <a:off x="2496312" y="2468880"/>
            <a:ext cx="352044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Pipeline step 2"/>
          <p:cNvSpPr/>
          <p:nvPr/>
        </p:nvSpPr>
        <p:spPr>
          <a:xfrm>
            <a:off x="2921508" y="173736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DCEE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58668" y="173736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Normalize text</a:t>
            </a:r>
            <a:endParaRPr lang="en-US" sz="1600" dirty="0"/>
          </a:p>
        </p:txBody>
      </p:sp>
      <p:sp>
        <p:nvSpPr>
          <p:cNvPr id="8" name="Arrow 2"/>
          <p:cNvSpPr/>
          <p:nvPr/>
        </p:nvSpPr>
        <p:spPr>
          <a:xfrm>
            <a:off x="4777740" y="2468880"/>
            <a:ext cx="352044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Pipeline step 3"/>
          <p:cNvSpPr/>
          <p:nvPr/>
        </p:nvSpPr>
        <p:spPr>
          <a:xfrm>
            <a:off x="5202936" y="173736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CDEBD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40096" y="173736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k-grams + rolling hash (Rabin–Karp)</a:t>
            </a:r>
            <a:endParaRPr lang="en-US" sz="1600" dirty="0"/>
          </a:p>
        </p:txBody>
      </p:sp>
      <p:sp>
        <p:nvSpPr>
          <p:cNvPr id="11" name="Arrow 3"/>
          <p:cNvSpPr/>
          <p:nvPr/>
        </p:nvSpPr>
        <p:spPr>
          <a:xfrm>
            <a:off x="7059168" y="2468880"/>
            <a:ext cx="352044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Pipeline step 4"/>
          <p:cNvSpPr/>
          <p:nvPr/>
        </p:nvSpPr>
        <p:spPr>
          <a:xfrm>
            <a:off x="7484364" y="173736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DCEE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21524" y="173736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Winnowing</a:t>
            </a:r>
            <a:endParaRPr lang="en-US" sz="1600" dirty="0"/>
          </a:p>
        </p:txBody>
      </p:sp>
      <p:sp>
        <p:nvSpPr>
          <p:cNvPr id="14" name="Arrow 4"/>
          <p:cNvSpPr/>
          <p:nvPr/>
        </p:nvSpPr>
        <p:spPr>
          <a:xfrm>
            <a:off x="9340596" y="2468880"/>
            <a:ext cx="352044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Pipeline step 5"/>
          <p:cNvSpPr/>
          <p:nvPr/>
        </p:nvSpPr>
        <p:spPr>
          <a:xfrm>
            <a:off x="9765792" y="173736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DCEE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02952" y="173736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Index and compare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40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Classic Rabin–Karp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891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given pattern is searched for inside one text.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3840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Plagiarism detection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45352" y="43891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pattern is given. Every document is reduced to a fingerprint set, and the sets are compared with each other.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1: Normalize the Text</a:t>
            </a:r>
            <a:endParaRPr lang="en-US" sz="3200" dirty="0"/>
          </a:p>
        </p:txBody>
      </p:sp>
      <p:sp>
        <p:nvSpPr>
          <p:cNvPr id="3" name="Original card"/>
          <p:cNvSpPr/>
          <p:nvPr/>
        </p:nvSpPr>
        <p:spPr>
          <a:xfrm>
            <a:off x="640080" y="164592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E7E5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Original text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do run run run, a do run run</a:t>
            </a:r>
            <a:endParaRPr lang="en-US" sz="1800" dirty="0"/>
          </a:p>
        </p:txBody>
      </p:sp>
      <p:sp>
        <p:nvSpPr>
          <p:cNvPr id="6" name="Arrow down"/>
          <p:cNvSpPr/>
          <p:nvPr/>
        </p:nvSpPr>
        <p:spPr>
          <a:xfrm>
            <a:off x="3566160" y="3108960"/>
            <a:ext cx="0" cy="36576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Normalized card"/>
          <p:cNvSpPr/>
          <p:nvPr/>
        </p:nvSpPr>
        <p:spPr>
          <a:xfrm>
            <a:off x="640080" y="356616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BEB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Normalized text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14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adorunrunrunadorunrun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737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Normalization rules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377440"/>
            <a:ext cx="45079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Convert everything to lowercase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Remove punctuation and whitespace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source code: remove comments and replace variable names with a common token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Goal: small cosmetic edits must not change the k-grams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2: k-grams and the Rolling Hash (k = 5)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k-gram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Hash (d = 256, q = 101)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adoru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dorun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orunr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26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runru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unrun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nrunr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59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runru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olling step card"/>
          <p:cNvSpPr/>
          <p:nvPr/>
        </p:nvSpPr>
        <p:spPr>
          <a:xfrm>
            <a:off x="6492240" y="1645920"/>
            <a:ext cx="5056632" cy="3803904"/>
          </a:xfrm>
          <a:prstGeom prst="roundRect">
            <a:avLst>
              <a:gd name="adj" fmla="val 1923"/>
            </a:avLst>
          </a:prstGeom>
          <a:solidFill>
            <a:srgbClr val="DCEEF7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766560" y="1874520"/>
            <a:ext cx="4507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One rolling step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251460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H("adoru") = 8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301752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Remove 'a' (97), shift, add 'n' (110):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3520440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(256 × (8 − 97 × 256</a:t>
            </a:r>
            <a:pPr indent="0" marL="0">
              <a:buNone/>
            </a:pPr>
            <a:r>
              <a:rPr lang="en-US" sz="1400" baseline="30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+ 110) mod 101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429768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80 = H("dorun")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4800600"/>
            <a:ext cx="4507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 value as hashing the new k-gram from scratch, at O(1)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3: Winnowing Selects the Fingerprints</a:t>
            </a:r>
            <a:endParaRPr lang="en-US" sz="3200" dirty="0"/>
          </a:p>
        </p:txBody>
      </p:sp>
      <p:sp>
        <p:nvSpPr>
          <p:cNvPr id="3" name="Step number 1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691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Hash every k-gram using the rolling hash.</a:t>
            </a:r>
            <a:endParaRPr lang="en-US" sz="1800" dirty="0"/>
          </a:p>
        </p:txBody>
      </p:sp>
      <p:sp>
        <p:nvSpPr>
          <p:cNvPr id="5" name="Step number 2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7157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Slide a window of w consecutive hashes over the list.</a:t>
            </a:r>
            <a:endParaRPr lang="en-US" sz="1800" dirty="0"/>
          </a:p>
        </p:txBody>
      </p:sp>
      <p:sp>
        <p:nvSpPr>
          <p:cNvPr id="7" name="Step number 3"/>
          <p:cNvSpPr/>
          <p:nvPr/>
        </p:nvSpPr>
        <p:spPr>
          <a:xfrm>
            <a:off x="640080" y="378561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73989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Keep the smallest hash in each window (rightmost if tied).</a:t>
            </a:r>
            <a:endParaRPr lang="en-US" sz="1800" dirty="0"/>
          </a:p>
        </p:txBody>
      </p:sp>
      <p:sp>
        <p:nvSpPr>
          <p:cNvPr id="9" name="Step number 4"/>
          <p:cNvSpPr/>
          <p:nvPr/>
        </p:nvSpPr>
        <p:spPr>
          <a:xfrm>
            <a:off x="640080" y="480974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476402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kept (hash, position) pairs form the document's fingerprint.</a:t>
            </a:r>
            <a:endParaRPr lang="en-US" sz="1800" dirty="0"/>
          </a:p>
        </p:txBody>
      </p:sp>
      <p:sp>
        <p:nvSpPr>
          <p:cNvPr id="11" name="Guarantee card"/>
          <p:cNvSpPr/>
          <p:nvPr/>
        </p:nvSpPr>
        <p:spPr>
          <a:xfrm>
            <a:off x="7406640" y="1645920"/>
            <a:ext cx="4142232" cy="2103120"/>
          </a:xfrm>
          <a:prstGeom prst="roundRect">
            <a:avLst>
              <a:gd name="adj" fmla="val 3478"/>
            </a:avLst>
          </a:prstGeom>
          <a:solidFill>
            <a:srgbClr val="DDF1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182880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Guarantee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24028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+ k − 1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880360"/>
            <a:ext cx="3593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copied passage at least this long produces a shared fingerprint.</a:t>
            </a:r>
            <a:endParaRPr lang="en-US" sz="1400" dirty="0"/>
          </a:p>
        </p:txBody>
      </p:sp>
      <p:sp>
        <p:nvSpPr>
          <p:cNvPr id="15" name="Density card"/>
          <p:cNvSpPr/>
          <p:nvPr/>
        </p:nvSpPr>
        <p:spPr>
          <a:xfrm>
            <a:off x="7406640" y="4023360"/>
            <a:ext cx="4142232" cy="2103120"/>
          </a:xfrm>
          <a:prstGeom prst="roundRect">
            <a:avLst>
              <a:gd name="adj" fmla="val 3478"/>
            </a:avLst>
          </a:prstGeom>
          <a:solidFill>
            <a:srgbClr val="E7E5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420624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Density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61772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 / (w + 1)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5257800"/>
            <a:ext cx="3593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Expected fraction of hashes that are kept, so storage stays small.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Example: Winnowing (k = 5, w = 4)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  <a:gridCol w="64169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465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26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59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42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47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26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BD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2926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"adorunrunrunadorunrun"   (17 hashes, 14 windows of 4)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74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Highlighted hashes are the minimum of at least one window.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114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Fingerprint (hash @ position)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663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@ 1     19 @ 5     19 @ 8     24 @ 10     8 @ 13     19 @ 17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6 of 17 hashes are stored (35%), yet every repeated passage still leaves a trace.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4: Index and Compare Documents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49377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Fingerprint hash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465A"/>
                          </a:solidFill>
                        </a:rPr>
                        <a:t>Found in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Doc A, Doc B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19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Doc A, Doc B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465A"/>
                          </a:solidFill>
                        </a:rPr>
                        <a:t>Doc A, Doc B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omparison card"/>
          <p:cNvSpPr/>
          <p:nvPr/>
        </p:nvSpPr>
        <p:spPr>
          <a:xfrm>
            <a:off x="6035040" y="1645920"/>
            <a:ext cx="5513832" cy="4114800"/>
          </a:xfrm>
          <a:prstGeom prst="roundRect">
            <a:avLst>
              <a:gd name="adj" fmla="val 1778"/>
            </a:avLst>
          </a:prstGeom>
          <a:solidFill>
            <a:srgbClr val="FBEBD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874520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a new submission is checked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514600"/>
            <a:ext cx="49651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Look up each fingerprint in an inverted index (hash → documents).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Doc B has 3 distinct fingerprints; 3 also appear in Doc 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Similarity: 3 / 3 = 100% of B's fingerprints.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Matching positions are mapped back to the text to highlight copied passages.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958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A: "adorunrunrunadorunrun"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B: "dorunrunrunadorun"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Real-World Systems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48737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7465A"/>
                          </a:solidFill>
                        </a:rPr>
                        <a:t>System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7465A"/>
                          </a:solidFill>
                        </a:rPr>
                        <a:t>Used for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7465A"/>
                          </a:solidFill>
                        </a:rPr>
                        <a:t>Technique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465A"/>
                          </a:solidFill>
                        </a:rPr>
                        <a:t>MOSS (Stanford)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465A"/>
                          </a:solidFill>
                        </a:rPr>
                        <a:t>Source code in many programming languages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465A"/>
                          </a:solidFill>
                        </a:rPr>
                        <a:t>Winnowing over k-gram hashes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465A"/>
                          </a:solidFill>
                        </a:rPr>
                        <a:t>JPlag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465A"/>
                          </a:solidFill>
                        </a:rPr>
                        <a:t>Source code submissions in courses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465A"/>
                          </a:solidFill>
                        </a:rPr>
                        <a:t>Greedy String Tiling accelerated with Karp–Rabin hashing (RKR-GST)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465A"/>
                          </a:solidFill>
                        </a:rPr>
                        <a:t>Turnitin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465A"/>
                          </a:solidFill>
                        </a:rPr>
                        <a:t>Student essays and reports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465A"/>
                          </a:solidFill>
                        </a:rPr>
                        <a:t>Proprietary; the exact method is not public</a:t>
                      </a:r>
                      <a:endParaRPr lang="en-US" sz="16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reported match is evidence for a human reviewer, not a verdict.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Complexity Analysis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57881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7465A"/>
                          </a:solidFill>
                        </a:rPr>
                        <a:t>Stage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7465A"/>
                          </a:solidFill>
                        </a:rPr>
                        <a:t>Time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7465A"/>
                          </a:solidFill>
                        </a:rPr>
                        <a:t>Remark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Normalization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O(n)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Single pass over the text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k-gram hashes (rolling)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O(n)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O(1) per update, versus O(nk) if each k-gram is hashed afresh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Winnowing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O(n)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Sliding-window minimum; O(nw) if each window is scanned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Index lookup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O(f) expected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f ≈ 2n / (w + 1) fingerprints per document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Verifying a match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O(length)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7465A"/>
                          </a:solidFill>
                        </a:rPr>
                        <a:t>Only for flagged regions, to rule out collisions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Overall: expected O(n) per document, with storage reduced to about 2n / (w + 1) numbers.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and Challenges</a:t>
            </a:r>
            <a:endParaRPr lang="en-US" sz="3200" dirty="0"/>
          </a:p>
        </p:txBody>
      </p:sp>
      <p:sp>
        <p:nvSpPr>
          <p:cNvPr id="3" name="Limitation 1"/>
          <p:cNvSpPr/>
          <p:nvPr/>
        </p:nvSpPr>
        <p:spPr>
          <a:xfrm>
            <a:off x="640080" y="16459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DCEE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Paraphrasing and obfuscation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60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Rewording, translation, or restructured code defeat exact k-gram matching.</a:t>
            </a:r>
            <a:endParaRPr lang="en-US" sz="1600" dirty="0"/>
          </a:p>
        </p:txBody>
      </p:sp>
      <p:sp>
        <p:nvSpPr>
          <p:cNvPr id="6" name="Limitation 2"/>
          <p:cNvSpPr/>
          <p:nvPr/>
        </p:nvSpPr>
        <p:spPr>
          <a:xfrm>
            <a:off x="6245352" y="16459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DDF1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19672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Common text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560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Quotations, references and standard phrases create matches that are not plagiarism.</a:t>
            </a:r>
            <a:endParaRPr lang="en-US" sz="1600" dirty="0"/>
          </a:p>
        </p:txBody>
      </p:sp>
      <p:sp>
        <p:nvSpPr>
          <p:cNvPr id="9" name="Limitation 3"/>
          <p:cNvSpPr/>
          <p:nvPr/>
        </p:nvSpPr>
        <p:spPr>
          <a:xfrm>
            <a:off x="640080" y="4050792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E7E5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3251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Hash collisions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96519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Different strings can share a hash, so matches must be verified.</a:t>
            </a:r>
            <a:endParaRPr lang="en-US" sz="1600" dirty="0"/>
          </a:p>
        </p:txBody>
      </p:sp>
      <p:sp>
        <p:nvSpPr>
          <p:cNvPr id="12" name="Limitation 4"/>
          <p:cNvSpPr/>
          <p:nvPr/>
        </p:nvSpPr>
        <p:spPr>
          <a:xfrm>
            <a:off x="6245352" y="4050792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BEB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9672" y="43251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Choosing k and w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496519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Small k gives noise; large k or w misses short copied passages.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akeaway number 1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1645920"/>
            <a:ext cx="10222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rolling hash makes fingerprinting linear.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Every k-gram hash costs O(1), so a document is processed in O(n).</a:t>
            </a:r>
            <a:endParaRPr lang="en-US" sz="2000" dirty="0"/>
          </a:p>
        </p:txBody>
      </p:sp>
      <p:sp>
        <p:nvSpPr>
          <p:cNvPr id="5" name="Takeaway number 2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743200"/>
            <a:ext cx="10222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Winnowing keeps the data small.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guaranteed subset of hashes is stored, so millions of documents can be indexed.</a:t>
            </a:r>
            <a:endParaRPr lang="en-US" sz="2000" dirty="0"/>
          </a:p>
        </p:txBody>
      </p:sp>
      <p:sp>
        <p:nvSpPr>
          <p:cNvPr id="7" name="Takeaway number 3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840480"/>
            <a:ext cx="10222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Humans make the final decision.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Collisions and common text mean matches must be reviewed.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et Light">
  <a:themeElements>
    <a:clrScheme name="Quiet Light">
      <a:dk1>
        <a:srgbClr val="27465A"/>
      </a:dk1>
      <a:lt1>
        <a:srgbClr val="F7FBFD"/>
      </a:lt1>
      <a:dk2>
        <a:srgbClr val="5F7A8A"/>
      </a:dk2>
      <a:lt2>
        <a:srgbClr val="E6F1F7"/>
      </a:lt2>
      <a:accent1>
        <a:srgbClr val="7FB3CF"/>
      </a:accent1>
      <a:accent2>
        <a:srgbClr val="A8D5C4"/>
      </a:accent2>
      <a:accent3>
        <a:srgbClr val="CFE5F0"/>
      </a:accent3>
      <a:accent4>
        <a:srgbClr val="8FB5C7"/>
      </a:accent4>
      <a:accent5>
        <a:srgbClr val="D8E6EE"/>
      </a:accent5>
      <a:accent6>
        <a:srgbClr val="86BFAA"/>
      </a:accent6>
      <a:hlink>
        <a:srgbClr val="4F8CAD"/>
      </a:hlink>
      <a:folHlink>
        <a:srgbClr val="8FB5C7"/>
      </a:folHlink>
    </a:clrScheme>
    <a:fontScheme name="Quiet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the Rabin-Karp Algorithm in Plagiarism Detection</dc:title>
  <dc:subject>PptxGenJS Presentation</dc:subject>
  <dc:creator>Rohit Sharma</dc:creator>
  <cp:lastModifiedBy>Rohit Sharma</cp:lastModifiedBy>
  <cp:revision>1</cp:revision>
  <dcterms:created xsi:type="dcterms:W3CDTF">2026-10-16T02:52:45Z</dcterms:created>
  <dcterms:modified xsi:type="dcterms:W3CDTF">2026-10-16T02:52:45Z</dcterms:modified>
</cp:coreProperties>
</file>